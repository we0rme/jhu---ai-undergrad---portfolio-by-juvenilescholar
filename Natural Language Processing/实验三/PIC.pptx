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8" userDrawn="1">
          <p15:clr>
            <a:srgbClr val="A4A3A4"/>
          </p15:clr>
        </p15:guide>
        <p15:guide id="2" pos="38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28"/>
        <p:guide pos="384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/>
        </p:nvSpPr>
        <p:spPr>
          <a:xfrm>
            <a:off x="4806950" y="382905"/>
            <a:ext cx="1139825" cy="583565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bg1"/>
                </a:solidFill>
              </a:rPr>
              <a:t>“</a:t>
            </a:r>
            <a:r>
              <a:rPr lang="zh-CN" altLang="en-US" sz="1400">
                <a:solidFill>
                  <a:schemeClr val="bg1"/>
                </a:solidFill>
              </a:rPr>
              <a:t>来到</a:t>
            </a:r>
            <a:r>
              <a:rPr lang="en-US" altLang="zh-CN" sz="1400">
                <a:solidFill>
                  <a:schemeClr val="bg1"/>
                </a:solidFill>
              </a:rPr>
              <a:t>”</a:t>
            </a:r>
            <a:endParaRPr lang="en-US" altLang="zh-CN" sz="1400">
              <a:solidFill>
                <a:schemeClr val="bg1"/>
              </a:solidFill>
            </a:endParaRPr>
          </a:p>
        </p:txBody>
      </p:sp>
      <p:sp>
        <p:nvSpPr>
          <p:cNvPr id="5" name="椭圆 4"/>
          <p:cNvSpPr/>
          <p:nvPr/>
        </p:nvSpPr>
        <p:spPr>
          <a:xfrm>
            <a:off x="2290445" y="1534160"/>
            <a:ext cx="1139825" cy="583565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</a:rPr>
              <a:t>“</a:t>
            </a:r>
            <a:r>
              <a:rPr lang="zh-CN" altLang="en-US" sz="1400">
                <a:solidFill>
                  <a:schemeClr val="tx1"/>
                </a:solidFill>
              </a:rPr>
              <a:t>阿婆主</a:t>
            </a:r>
            <a:r>
              <a:rPr lang="en-US" altLang="zh-CN" sz="1400">
                <a:solidFill>
                  <a:schemeClr val="tx1"/>
                </a:solidFill>
              </a:rPr>
              <a:t>”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6" name="椭圆 5"/>
          <p:cNvSpPr/>
          <p:nvPr/>
        </p:nvSpPr>
        <p:spPr>
          <a:xfrm>
            <a:off x="3944620" y="1534160"/>
            <a:ext cx="1139825" cy="583565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</a:rPr>
              <a:t>“</a:t>
            </a:r>
            <a:r>
              <a:rPr lang="zh-CN" altLang="en-US" sz="1400">
                <a:solidFill>
                  <a:schemeClr val="tx1"/>
                </a:solidFill>
              </a:rPr>
              <a:t>立方庭</a:t>
            </a:r>
            <a:r>
              <a:rPr lang="en-US" altLang="zh-CN" sz="1400">
                <a:solidFill>
                  <a:schemeClr val="tx1"/>
                </a:solidFill>
              </a:rPr>
              <a:t>”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7" name="椭圆 6"/>
          <p:cNvSpPr/>
          <p:nvPr/>
        </p:nvSpPr>
        <p:spPr>
          <a:xfrm>
            <a:off x="5598795" y="1534160"/>
            <a:ext cx="1139825" cy="583565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</a:rPr>
              <a:t>“</a:t>
            </a:r>
            <a:r>
              <a:rPr lang="zh-CN" altLang="en-US" sz="1400">
                <a:solidFill>
                  <a:schemeClr val="tx1"/>
                </a:solidFill>
              </a:rPr>
              <a:t>参观</a:t>
            </a:r>
            <a:r>
              <a:rPr lang="en-US" altLang="zh-CN" sz="1400">
                <a:solidFill>
                  <a:schemeClr val="tx1"/>
                </a:solidFill>
              </a:rPr>
              <a:t>”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8" name="椭圆 7"/>
          <p:cNvSpPr/>
          <p:nvPr/>
        </p:nvSpPr>
        <p:spPr>
          <a:xfrm>
            <a:off x="7252970" y="1534160"/>
            <a:ext cx="1139825" cy="583565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</a:rPr>
              <a:t>“   </a:t>
            </a:r>
            <a:r>
              <a:rPr lang="zh-CN" altLang="en-US" sz="1400">
                <a:solidFill>
                  <a:schemeClr val="tx1"/>
                </a:solidFill>
              </a:rPr>
              <a:t>。</a:t>
            </a:r>
            <a:r>
              <a:rPr lang="en-US" altLang="zh-CN" sz="1400">
                <a:solidFill>
                  <a:schemeClr val="tx1"/>
                </a:solidFill>
              </a:rPr>
              <a:t>”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9" name="椭圆 8"/>
          <p:cNvSpPr/>
          <p:nvPr/>
        </p:nvSpPr>
        <p:spPr>
          <a:xfrm>
            <a:off x="3944620" y="2456815"/>
            <a:ext cx="1139825" cy="58356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</a:rPr>
              <a:t>“</a:t>
            </a:r>
            <a:r>
              <a:rPr lang="zh-CN" altLang="en-US" sz="1400">
                <a:solidFill>
                  <a:schemeClr val="tx1"/>
                </a:solidFill>
              </a:rPr>
              <a:t>北京</a:t>
            </a:r>
            <a:r>
              <a:rPr lang="en-US" altLang="zh-CN" sz="1400">
                <a:solidFill>
                  <a:schemeClr val="tx1"/>
                </a:solidFill>
              </a:rPr>
              <a:t>”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10" name="椭圆 9"/>
          <p:cNvSpPr/>
          <p:nvPr/>
        </p:nvSpPr>
        <p:spPr>
          <a:xfrm>
            <a:off x="5599430" y="2450465"/>
            <a:ext cx="1139825" cy="58356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</a:rPr>
              <a:t>“</a:t>
            </a:r>
            <a:r>
              <a:rPr lang="zh-CN" altLang="en-US" sz="1400">
                <a:solidFill>
                  <a:schemeClr val="tx1"/>
                </a:solidFill>
              </a:rPr>
              <a:t>公司</a:t>
            </a:r>
            <a:r>
              <a:rPr lang="en-US" altLang="zh-CN" sz="1400">
                <a:solidFill>
                  <a:schemeClr val="tx1"/>
                </a:solidFill>
              </a:rPr>
              <a:t>”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4845050" y="3366770"/>
            <a:ext cx="1139825" cy="583565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</a:rPr>
              <a:t>“</a:t>
            </a:r>
            <a:r>
              <a:rPr lang="zh-CN" altLang="en-US" sz="1400">
                <a:solidFill>
                  <a:schemeClr val="tx1"/>
                </a:solidFill>
              </a:rPr>
              <a:t>语义</a:t>
            </a:r>
            <a:r>
              <a:rPr lang="en-US" altLang="zh-CN" sz="1400">
                <a:solidFill>
                  <a:schemeClr val="tx1"/>
                </a:solidFill>
              </a:rPr>
              <a:t>”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6322060" y="3379470"/>
            <a:ext cx="1139825" cy="583565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</a:rPr>
              <a:t>“</a:t>
            </a:r>
            <a:r>
              <a:rPr lang="zh-CN" altLang="en-US" sz="1400">
                <a:solidFill>
                  <a:schemeClr val="tx1"/>
                </a:solidFill>
              </a:rPr>
              <a:t>科技</a:t>
            </a:r>
            <a:r>
              <a:rPr lang="en-US" altLang="zh-CN" sz="1400">
                <a:solidFill>
                  <a:schemeClr val="tx1"/>
                </a:solidFill>
              </a:rPr>
              <a:t>”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4845050" y="4283075"/>
            <a:ext cx="1139825" cy="58356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</a:rPr>
              <a:t>“</a:t>
            </a:r>
            <a:r>
              <a:rPr lang="zh-CN" altLang="en-US" sz="1400">
                <a:solidFill>
                  <a:schemeClr val="tx1"/>
                </a:solidFill>
              </a:rPr>
              <a:t>自然</a:t>
            </a:r>
            <a:r>
              <a:rPr lang="en-US" altLang="zh-CN" sz="1400">
                <a:solidFill>
                  <a:schemeClr val="tx1"/>
                </a:solidFill>
              </a:rPr>
              <a:t>”</a:t>
            </a:r>
            <a:endParaRPr lang="en-US" altLang="zh-CN" sz="1400">
              <a:solidFill>
                <a:schemeClr val="tx1"/>
              </a:solidFill>
            </a:endParaRPr>
          </a:p>
        </p:txBody>
      </p:sp>
      <p:cxnSp>
        <p:nvCxnSpPr>
          <p:cNvPr id="14" name="直接箭头连接符 13"/>
          <p:cNvCxnSpPr>
            <a:stCxn id="5" idx="0"/>
            <a:endCxn id="4" idx="3"/>
          </p:cNvCxnSpPr>
          <p:nvPr/>
        </p:nvCxnSpPr>
        <p:spPr>
          <a:xfrm flipV="1">
            <a:off x="2860675" y="880745"/>
            <a:ext cx="2113280" cy="653415"/>
          </a:xfrm>
          <a:prstGeom prst="straightConnector1">
            <a:avLst/>
          </a:prstGeom>
          <a:ln>
            <a:gradFill>
              <a:gsLst>
                <a:gs pos="50000">
                  <a:schemeClr val="tx1"/>
                </a:gs>
                <a:gs pos="0">
                  <a:schemeClr val="tx1">
                    <a:lumMod val="25000"/>
                    <a:lumOff val="75000"/>
                  </a:schemeClr>
                </a:gs>
                <a:gs pos="100000">
                  <a:schemeClr val="tx1">
                    <a:lumMod val="85000"/>
                  </a:schemeClr>
                </a:gs>
              </a:gsLst>
              <a:lin ang="5400000" scaled="0"/>
            </a:gra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stCxn id="6" idx="0"/>
            <a:endCxn id="4" idx="4"/>
          </p:cNvCxnSpPr>
          <p:nvPr/>
        </p:nvCxnSpPr>
        <p:spPr>
          <a:xfrm flipV="1">
            <a:off x="4514850" y="966470"/>
            <a:ext cx="862330" cy="567690"/>
          </a:xfrm>
          <a:prstGeom prst="straightConnector1">
            <a:avLst/>
          </a:prstGeom>
          <a:ln>
            <a:gradFill>
              <a:gsLst>
                <a:gs pos="50000">
                  <a:schemeClr val="tx1"/>
                </a:gs>
                <a:gs pos="0">
                  <a:schemeClr val="tx1">
                    <a:lumMod val="25000"/>
                    <a:lumOff val="75000"/>
                  </a:schemeClr>
                </a:gs>
                <a:gs pos="100000">
                  <a:schemeClr val="tx1">
                    <a:lumMod val="85000"/>
                  </a:schemeClr>
                </a:gs>
              </a:gsLst>
              <a:lin ang="5400000" scaled="0"/>
            </a:gra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stCxn id="7" idx="0"/>
            <a:endCxn id="4" idx="4"/>
          </p:cNvCxnSpPr>
          <p:nvPr/>
        </p:nvCxnSpPr>
        <p:spPr>
          <a:xfrm flipH="1" flipV="1">
            <a:off x="5377180" y="966470"/>
            <a:ext cx="791845" cy="567690"/>
          </a:xfrm>
          <a:prstGeom prst="straightConnector1">
            <a:avLst/>
          </a:prstGeom>
          <a:ln>
            <a:gradFill>
              <a:gsLst>
                <a:gs pos="50000">
                  <a:schemeClr val="tx1"/>
                </a:gs>
                <a:gs pos="0">
                  <a:schemeClr val="tx1">
                    <a:lumMod val="25000"/>
                    <a:lumOff val="75000"/>
                  </a:schemeClr>
                </a:gs>
                <a:gs pos="100000">
                  <a:schemeClr val="tx1">
                    <a:lumMod val="85000"/>
                  </a:schemeClr>
                </a:gs>
              </a:gsLst>
              <a:lin ang="5400000" scaled="0"/>
            </a:gra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>
            <a:stCxn id="8" idx="0"/>
            <a:endCxn id="4" idx="5"/>
          </p:cNvCxnSpPr>
          <p:nvPr/>
        </p:nvCxnSpPr>
        <p:spPr>
          <a:xfrm flipH="1" flipV="1">
            <a:off x="5779770" y="880745"/>
            <a:ext cx="2043430" cy="653415"/>
          </a:xfrm>
          <a:prstGeom prst="straightConnector1">
            <a:avLst/>
          </a:prstGeom>
          <a:ln>
            <a:gradFill>
              <a:gsLst>
                <a:gs pos="50000">
                  <a:schemeClr val="tx1"/>
                </a:gs>
                <a:gs pos="0">
                  <a:schemeClr val="tx1">
                    <a:lumMod val="25000"/>
                    <a:lumOff val="75000"/>
                  </a:schemeClr>
                </a:gs>
                <a:gs pos="100000">
                  <a:schemeClr val="tx1">
                    <a:lumMod val="85000"/>
                  </a:schemeClr>
                </a:gs>
              </a:gsLst>
              <a:lin ang="5400000" scaled="0"/>
            </a:gra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>
            <a:stCxn id="9" idx="0"/>
            <a:endCxn id="6" idx="4"/>
          </p:cNvCxnSpPr>
          <p:nvPr/>
        </p:nvCxnSpPr>
        <p:spPr>
          <a:xfrm flipV="1">
            <a:off x="4514850" y="2117725"/>
            <a:ext cx="0" cy="339090"/>
          </a:xfrm>
          <a:prstGeom prst="straightConnector1">
            <a:avLst/>
          </a:prstGeom>
          <a:ln>
            <a:gradFill>
              <a:gsLst>
                <a:gs pos="50000">
                  <a:schemeClr val="tx1"/>
                </a:gs>
                <a:gs pos="0">
                  <a:schemeClr val="tx1">
                    <a:lumMod val="25000"/>
                    <a:lumOff val="75000"/>
                  </a:schemeClr>
                </a:gs>
                <a:gs pos="100000">
                  <a:schemeClr val="tx1">
                    <a:lumMod val="85000"/>
                  </a:schemeClr>
                </a:gs>
              </a:gsLst>
              <a:lin ang="5400000" scaled="0"/>
            </a:gra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>
            <a:stCxn id="10" idx="0"/>
            <a:endCxn id="7" idx="4"/>
          </p:cNvCxnSpPr>
          <p:nvPr/>
        </p:nvCxnSpPr>
        <p:spPr>
          <a:xfrm flipH="1" flipV="1">
            <a:off x="6169025" y="2117725"/>
            <a:ext cx="635" cy="332740"/>
          </a:xfrm>
          <a:prstGeom prst="straightConnector1">
            <a:avLst/>
          </a:prstGeom>
          <a:ln>
            <a:gradFill>
              <a:gsLst>
                <a:gs pos="50000">
                  <a:schemeClr val="tx1"/>
                </a:gs>
                <a:gs pos="0">
                  <a:schemeClr val="tx1">
                    <a:lumMod val="25000"/>
                    <a:lumOff val="75000"/>
                  </a:schemeClr>
                </a:gs>
                <a:gs pos="100000">
                  <a:schemeClr val="tx1">
                    <a:lumMod val="85000"/>
                  </a:schemeClr>
                </a:gs>
              </a:gsLst>
              <a:lin ang="5400000" scaled="0"/>
            </a:gra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>
            <a:stCxn id="11" idx="0"/>
            <a:endCxn id="10" idx="4"/>
          </p:cNvCxnSpPr>
          <p:nvPr/>
        </p:nvCxnSpPr>
        <p:spPr>
          <a:xfrm flipV="1">
            <a:off x="5415280" y="3034030"/>
            <a:ext cx="754380" cy="332740"/>
          </a:xfrm>
          <a:prstGeom prst="straightConnector1">
            <a:avLst/>
          </a:prstGeom>
          <a:ln>
            <a:gradFill>
              <a:gsLst>
                <a:gs pos="50000">
                  <a:schemeClr val="tx1"/>
                </a:gs>
                <a:gs pos="0">
                  <a:schemeClr val="tx1">
                    <a:lumMod val="25000"/>
                    <a:lumOff val="75000"/>
                  </a:schemeClr>
                </a:gs>
                <a:gs pos="100000">
                  <a:schemeClr val="tx1">
                    <a:lumMod val="85000"/>
                  </a:schemeClr>
                </a:gs>
              </a:gsLst>
              <a:lin ang="5400000" scaled="0"/>
            </a:gra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>
            <a:stCxn id="12" idx="0"/>
            <a:endCxn id="10" idx="4"/>
          </p:cNvCxnSpPr>
          <p:nvPr/>
        </p:nvCxnSpPr>
        <p:spPr>
          <a:xfrm flipH="1" flipV="1">
            <a:off x="6169660" y="3034030"/>
            <a:ext cx="722630" cy="345440"/>
          </a:xfrm>
          <a:prstGeom prst="straightConnector1">
            <a:avLst/>
          </a:prstGeom>
          <a:ln>
            <a:gradFill>
              <a:gsLst>
                <a:gs pos="50000">
                  <a:schemeClr val="tx1"/>
                </a:gs>
                <a:gs pos="0">
                  <a:schemeClr val="tx1">
                    <a:lumMod val="25000"/>
                    <a:lumOff val="75000"/>
                  </a:schemeClr>
                </a:gs>
                <a:gs pos="100000">
                  <a:schemeClr val="tx1">
                    <a:lumMod val="85000"/>
                  </a:schemeClr>
                </a:gs>
              </a:gsLst>
              <a:lin ang="5400000" scaled="0"/>
            </a:gra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>
            <a:stCxn id="13" idx="0"/>
            <a:endCxn id="11" idx="4"/>
          </p:cNvCxnSpPr>
          <p:nvPr/>
        </p:nvCxnSpPr>
        <p:spPr>
          <a:xfrm flipV="1">
            <a:off x="5415280" y="3950335"/>
            <a:ext cx="0" cy="332740"/>
          </a:xfrm>
          <a:prstGeom prst="straightConnector1">
            <a:avLst/>
          </a:prstGeom>
          <a:ln>
            <a:gradFill>
              <a:gsLst>
                <a:gs pos="50000">
                  <a:schemeClr val="tx1"/>
                </a:gs>
                <a:gs pos="0">
                  <a:schemeClr val="tx1">
                    <a:lumMod val="25000"/>
                    <a:lumOff val="75000"/>
                  </a:schemeClr>
                </a:gs>
                <a:gs pos="100000">
                  <a:schemeClr val="tx1">
                    <a:lumMod val="85000"/>
                  </a:schemeClr>
                </a:gs>
              </a:gsLst>
              <a:lin ang="5400000" scaled="0"/>
            </a:gra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3284855" y="955040"/>
            <a:ext cx="6877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nsubj</a:t>
            </a:r>
            <a:endParaRPr lang="en-US" altLang="zh-CN" sz="1400"/>
          </a:p>
        </p:txBody>
      </p:sp>
      <p:sp>
        <p:nvSpPr>
          <p:cNvPr id="24" name="文本框 23"/>
          <p:cNvSpPr txBox="1"/>
          <p:nvPr/>
        </p:nvSpPr>
        <p:spPr>
          <a:xfrm>
            <a:off x="4331335" y="1096645"/>
            <a:ext cx="6877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dobj</a:t>
            </a:r>
            <a:endParaRPr lang="en-US" altLang="zh-CN" sz="1400"/>
          </a:p>
        </p:txBody>
      </p:sp>
      <p:sp>
        <p:nvSpPr>
          <p:cNvPr id="25" name="文本框 24"/>
          <p:cNvSpPr txBox="1"/>
          <p:nvPr/>
        </p:nvSpPr>
        <p:spPr>
          <a:xfrm>
            <a:off x="5779770" y="1096645"/>
            <a:ext cx="6877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conj</a:t>
            </a:r>
            <a:endParaRPr lang="en-US" altLang="zh-CN" sz="1400"/>
          </a:p>
        </p:txBody>
      </p:sp>
      <p:sp>
        <p:nvSpPr>
          <p:cNvPr id="26" name="文本框 25"/>
          <p:cNvSpPr txBox="1"/>
          <p:nvPr/>
        </p:nvSpPr>
        <p:spPr>
          <a:xfrm>
            <a:off x="6572250" y="894715"/>
            <a:ext cx="6877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punct</a:t>
            </a:r>
            <a:endParaRPr lang="en-US" altLang="zh-CN" sz="1400"/>
          </a:p>
        </p:txBody>
      </p:sp>
      <p:sp>
        <p:nvSpPr>
          <p:cNvPr id="27" name="文本框 26"/>
          <p:cNvSpPr txBox="1"/>
          <p:nvPr/>
        </p:nvSpPr>
        <p:spPr>
          <a:xfrm>
            <a:off x="4170680" y="2117725"/>
            <a:ext cx="6877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nn</a:t>
            </a:r>
            <a:endParaRPr lang="en-US" altLang="zh-CN" sz="1400"/>
          </a:p>
        </p:txBody>
      </p:sp>
      <p:sp>
        <p:nvSpPr>
          <p:cNvPr id="28" name="文本框 27"/>
          <p:cNvSpPr txBox="1"/>
          <p:nvPr/>
        </p:nvSpPr>
        <p:spPr>
          <a:xfrm>
            <a:off x="5694680" y="2124710"/>
            <a:ext cx="6877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dobj</a:t>
            </a:r>
            <a:endParaRPr lang="en-US" altLang="zh-CN" sz="1400"/>
          </a:p>
        </p:txBody>
      </p:sp>
      <p:sp>
        <p:nvSpPr>
          <p:cNvPr id="29" name="文本框 28"/>
          <p:cNvSpPr txBox="1"/>
          <p:nvPr/>
        </p:nvSpPr>
        <p:spPr>
          <a:xfrm>
            <a:off x="5415280" y="2964180"/>
            <a:ext cx="6877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nn</a:t>
            </a:r>
            <a:endParaRPr lang="en-US" altLang="zh-CN" sz="1400"/>
          </a:p>
        </p:txBody>
      </p:sp>
      <p:sp>
        <p:nvSpPr>
          <p:cNvPr id="30" name="文本框 29"/>
          <p:cNvSpPr txBox="1"/>
          <p:nvPr/>
        </p:nvSpPr>
        <p:spPr>
          <a:xfrm>
            <a:off x="6500495" y="2964180"/>
            <a:ext cx="6877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nn</a:t>
            </a:r>
            <a:endParaRPr lang="en-US" altLang="zh-CN" sz="1400"/>
          </a:p>
        </p:txBody>
      </p:sp>
      <p:sp>
        <p:nvSpPr>
          <p:cNvPr id="31" name="文本框 30"/>
          <p:cNvSpPr txBox="1"/>
          <p:nvPr/>
        </p:nvSpPr>
        <p:spPr>
          <a:xfrm>
            <a:off x="5084445" y="3963035"/>
            <a:ext cx="6877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nn</a:t>
            </a:r>
            <a:endParaRPr lang="en-US" altLang="zh-CN" sz="1400"/>
          </a:p>
        </p:txBody>
      </p:sp>
      <p:sp>
        <p:nvSpPr>
          <p:cNvPr id="33" name="矩形 32"/>
          <p:cNvSpPr/>
          <p:nvPr/>
        </p:nvSpPr>
        <p:spPr>
          <a:xfrm>
            <a:off x="1824990" y="2820670"/>
            <a:ext cx="1788795" cy="196342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50000"/>
              </a:lnSpc>
            </a:pPr>
            <a:r>
              <a:rPr lang="en-US" altLang="zh-CN" sz="1400"/>
              <a:t>·nsubj</a:t>
            </a:r>
            <a:r>
              <a:rPr lang="zh-CN" altLang="en-US" sz="1400"/>
              <a:t>：名词性主语</a:t>
            </a:r>
            <a:r>
              <a:rPr lang="en-US" altLang="zh-CN" sz="1400"/>
              <a:t>   </a:t>
            </a:r>
            <a:endParaRPr lang="en-US" altLang="zh-CN" sz="1400"/>
          </a:p>
          <a:p>
            <a:pPr algn="ctr">
              <a:lnSpc>
                <a:spcPct val="150000"/>
              </a:lnSpc>
            </a:pPr>
            <a:r>
              <a:rPr lang="en-US" altLang="zh-CN" sz="1400"/>
              <a:t>·dobj</a:t>
            </a:r>
            <a:r>
              <a:rPr lang="zh-CN" altLang="en-US" sz="1400"/>
              <a:t>：直接宾语</a:t>
            </a:r>
            <a:r>
              <a:rPr lang="en-US" altLang="zh-CN" sz="1400"/>
              <a:t>      </a:t>
            </a:r>
            <a:endParaRPr lang="en-US" altLang="zh-CN" sz="1400"/>
          </a:p>
          <a:p>
            <a:pPr algn="ctr">
              <a:lnSpc>
                <a:spcPct val="150000"/>
              </a:lnSpc>
            </a:pPr>
            <a:r>
              <a:rPr lang="en-US" altLang="zh-CN" sz="1400"/>
              <a:t> ·conj</a:t>
            </a:r>
            <a:r>
              <a:rPr lang="zh-CN" altLang="en-US" sz="1400"/>
              <a:t>：并列关</a:t>
            </a:r>
            <a:r>
              <a:rPr lang="zh-CN" altLang="en-US" sz="1400"/>
              <a:t>系</a:t>
            </a:r>
            <a:endParaRPr lang="zh-CN" altLang="en-US" sz="1400"/>
          </a:p>
          <a:p>
            <a:pPr algn="ctr">
              <a:lnSpc>
                <a:spcPct val="150000"/>
              </a:lnSpc>
            </a:pPr>
            <a:r>
              <a:rPr lang="en-US" altLang="zh-CN" sz="1400"/>
              <a:t> ·punct</a:t>
            </a:r>
            <a:r>
              <a:rPr lang="zh-CN" altLang="en-US" sz="1400"/>
              <a:t>：标点符号</a:t>
            </a:r>
            <a:r>
              <a:rPr lang="en-US" altLang="zh-CN" sz="1400"/>
              <a:t>     </a:t>
            </a:r>
            <a:endParaRPr lang="en-US" altLang="zh-CN" sz="1400"/>
          </a:p>
          <a:p>
            <a:pPr algn="ctr">
              <a:lnSpc>
                <a:spcPct val="150000"/>
              </a:lnSpc>
            </a:pPr>
            <a:r>
              <a:rPr lang="en-US" altLang="zh-CN" sz="1400">
                <a:sym typeface="+mn-ea"/>
              </a:rPr>
              <a:t>·nn</a:t>
            </a:r>
            <a:r>
              <a:rPr lang="zh-CN" altLang="en-US" sz="1400">
                <a:sym typeface="+mn-ea"/>
              </a:rPr>
              <a:t>：名词修饰语</a:t>
            </a:r>
            <a:endParaRPr lang="zh-CN" altLang="en-US" sz="140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resource_record_key" val="{&quot;13&quot;:[4721934,4364954,4364952,4364974],&quot;65&quot;:[20205081]}"/>
</p:tagLst>
</file>

<file path=ppt/tags/tag64.xml><?xml version="1.0" encoding="utf-8"?>
<p:tagLst xmlns:p="http://schemas.openxmlformats.org/presentationml/2006/main">
  <p:tag name="resource_record_key" val="{&quot;13&quot;:[4721934,4364954,4364952,4364974],&quot;65&quot;:[20205081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</Words>
  <Application>WPS 演示</Application>
  <PresentationFormat>宽屏</PresentationFormat>
  <Paragraphs>44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WPS_1649640610</cp:lastModifiedBy>
  <cp:revision>158</cp:revision>
  <dcterms:created xsi:type="dcterms:W3CDTF">2019-06-19T02:08:00Z</dcterms:created>
  <dcterms:modified xsi:type="dcterms:W3CDTF">2024-12-13T02:28:24Z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2052-12.1.0.19302</vt:lpwstr>
  </property>
  <property fmtid="{D5CDD505-2E9C-101B-9397-08002B2CF9AE}" pid="3" name="ICV">
    <vt:lpwstr>585215D78E484849A4B1F746175BF3CF_11</vt:lpwstr>
  </property>
</Properties>
</file>